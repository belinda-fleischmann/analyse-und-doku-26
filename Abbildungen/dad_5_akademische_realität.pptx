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</p:sldIdLst>
  <p:sldSz cx="899953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11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942577"/>
            <a:ext cx="6749654" cy="2005142"/>
          </a:xfrm>
        </p:spPr>
        <p:txBody>
          <a:bodyPr anchor="b"/>
          <a:lstStyle>
            <a:lvl1pPr algn="ctr">
              <a:defRPr sz="442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025045"/>
            <a:ext cx="6749654" cy="1390533"/>
          </a:xfrm>
        </p:spPr>
        <p:txBody>
          <a:bodyPr/>
          <a:lstStyle>
            <a:lvl1pPr marL="0" indent="0" algn="ctr">
              <a:buNone/>
              <a:defRPr sz="1772"/>
            </a:lvl1pPr>
            <a:lvl2pPr marL="337505" indent="0" algn="ctr">
              <a:buNone/>
              <a:defRPr sz="1476"/>
            </a:lvl2pPr>
            <a:lvl3pPr marL="675010" indent="0" algn="ctr">
              <a:buNone/>
              <a:defRPr sz="1329"/>
            </a:lvl3pPr>
            <a:lvl4pPr marL="1012515" indent="0" algn="ctr">
              <a:buNone/>
              <a:defRPr sz="1181"/>
            </a:lvl4pPr>
            <a:lvl5pPr marL="1350020" indent="0" algn="ctr">
              <a:buNone/>
              <a:defRPr sz="1181"/>
            </a:lvl5pPr>
            <a:lvl6pPr marL="1687525" indent="0" algn="ctr">
              <a:buNone/>
              <a:defRPr sz="1181"/>
            </a:lvl6pPr>
            <a:lvl7pPr marL="2025030" indent="0" algn="ctr">
              <a:buNone/>
              <a:defRPr sz="1181"/>
            </a:lvl7pPr>
            <a:lvl8pPr marL="2362535" indent="0" algn="ctr">
              <a:buNone/>
              <a:defRPr sz="1181"/>
            </a:lvl8pPr>
            <a:lvl9pPr marL="2700040" indent="0" algn="ctr">
              <a:buNone/>
              <a:defRPr sz="1181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783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665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435864"/>
            <a:ext cx="7762102" cy="2395771"/>
          </a:xfrm>
        </p:spPr>
        <p:txBody>
          <a:bodyPr anchor="b"/>
          <a:lstStyle>
            <a:lvl1pPr>
              <a:defRPr sz="442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3854300"/>
            <a:ext cx="7762102" cy="1259879"/>
          </a:xfrm>
        </p:spPr>
        <p:txBody>
          <a:bodyPr/>
          <a:lstStyle>
            <a:lvl1pPr marL="0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1pPr>
            <a:lvl2pPr marL="337505" indent="0">
              <a:buNone/>
              <a:defRPr sz="1476">
                <a:solidFill>
                  <a:schemeClr val="tx1">
                    <a:tint val="75000"/>
                  </a:schemeClr>
                </a:solidFill>
              </a:defRPr>
            </a:lvl2pPr>
            <a:lvl3pPr marL="675010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51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02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52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03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53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040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91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533187"/>
            <a:ext cx="3824804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533187"/>
            <a:ext cx="3824804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35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06638"/>
            <a:ext cx="7762102" cy="111322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411865"/>
            <a:ext cx="3807226" cy="691934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103799"/>
            <a:ext cx="3807226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1411865"/>
            <a:ext cx="3825976" cy="691934"/>
          </a:xfrm>
        </p:spPr>
        <p:txBody>
          <a:bodyPr anchor="b"/>
          <a:lstStyle>
            <a:lvl1pPr marL="0" indent="0">
              <a:buNone/>
              <a:defRPr sz="1772" b="1"/>
            </a:lvl1pPr>
            <a:lvl2pPr marL="337505" indent="0">
              <a:buNone/>
              <a:defRPr sz="1476" b="1"/>
            </a:lvl2pPr>
            <a:lvl3pPr marL="675010" indent="0">
              <a:buNone/>
              <a:defRPr sz="1329" b="1"/>
            </a:lvl3pPr>
            <a:lvl4pPr marL="1012515" indent="0">
              <a:buNone/>
              <a:defRPr sz="1181" b="1"/>
            </a:lvl4pPr>
            <a:lvl5pPr marL="1350020" indent="0">
              <a:buNone/>
              <a:defRPr sz="1181" b="1"/>
            </a:lvl5pPr>
            <a:lvl6pPr marL="1687525" indent="0">
              <a:buNone/>
              <a:defRPr sz="1181" b="1"/>
            </a:lvl6pPr>
            <a:lvl7pPr marL="2025030" indent="0">
              <a:buNone/>
              <a:defRPr sz="1181" b="1"/>
            </a:lvl7pPr>
            <a:lvl8pPr marL="2362535" indent="0">
              <a:buNone/>
              <a:defRPr sz="1181" b="1"/>
            </a:lvl8pPr>
            <a:lvl9pPr marL="2700040" indent="0">
              <a:buNone/>
              <a:defRPr sz="1181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2103799"/>
            <a:ext cx="3825976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3364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183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99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83963"/>
            <a:ext cx="2902585" cy="1343872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829255"/>
            <a:ext cx="4556016" cy="4092942"/>
          </a:xfrm>
        </p:spPr>
        <p:txBody>
          <a:bodyPr/>
          <a:lstStyle>
            <a:lvl1pPr>
              <a:defRPr sz="2362"/>
            </a:lvl1pPr>
            <a:lvl2pPr>
              <a:defRPr sz="2067"/>
            </a:lvl2pPr>
            <a:lvl3pPr>
              <a:defRPr sz="1772"/>
            </a:lvl3pPr>
            <a:lvl4pPr>
              <a:defRPr sz="1476"/>
            </a:lvl4pPr>
            <a:lvl5pPr>
              <a:defRPr sz="1476"/>
            </a:lvl5pPr>
            <a:lvl6pPr>
              <a:defRPr sz="1476"/>
            </a:lvl6pPr>
            <a:lvl7pPr>
              <a:defRPr sz="1476"/>
            </a:lvl7pPr>
            <a:lvl8pPr>
              <a:defRPr sz="1476"/>
            </a:lvl8pPr>
            <a:lvl9pPr>
              <a:defRPr sz="1476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27835"/>
            <a:ext cx="2902585" cy="3201028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9002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383963"/>
            <a:ext cx="2902585" cy="1343872"/>
          </a:xfrm>
        </p:spPr>
        <p:txBody>
          <a:bodyPr anchor="b"/>
          <a:lstStyle>
            <a:lvl1pPr>
              <a:defRPr sz="236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829255"/>
            <a:ext cx="4556016" cy="4092942"/>
          </a:xfrm>
        </p:spPr>
        <p:txBody>
          <a:bodyPr anchor="t"/>
          <a:lstStyle>
            <a:lvl1pPr marL="0" indent="0">
              <a:buNone/>
              <a:defRPr sz="2362"/>
            </a:lvl1pPr>
            <a:lvl2pPr marL="337505" indent="0">
              <a:buNone/>
              <a:defRPr sz="2067"/>
            </a:lvl2pPr>
            <a:lvl3pPr marL="675010" indent="0">
              <a:buNone/>
              <a:defRPr sz="1772"/>
            </a:lvl3pPr>
            <a:lvl4pPr marL="1012515" indent="0">
              <a:buNone/>
              <a:defRPr sz="1476"/>
            </a:lvl4pPr>
            <a:lvl5pPr marL="1350020" indent="0">
              <a:buNone/>
              <a:defRPr sz="1476"/>
            </a:lvl5pPr>
            <a:lvl6pPr marL="1687525" indent="0">
              <a:buNone/>
              <a:defRPr sz="1476"/>
            </a:lvl6pPr>
            <a:lvl7pPr marL="2025030" indent="0">
              <a:buNone/>
              <a:defRPr sz="1476"/>
            </a:lvl7pPr>
            <a:lvl8pPr marL="2362535" indent="0">
              <a:buNone/>
              <a:defRPr sz="1476"/>
            </a:lvl8pPr>
            <a:lvl9pPr marL="2700040" indent="0">
              <a:buNone/>
              <a:defRPr sz="1476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727835"/>
            <a:ext cx="2902585" cy="3201028"/>
          </a:xfrm>
        </p:spPr>
        <p:txBody>
          <a:bodyPr/>
          <a:lstStyle>
            <a:lvl1pPr marL="0" indent="0">
              <a:buNone/>
              <a:defRPr sz="1181"/>
            </a:lvl1pPr>
            <a:lvl2pPr marL="337505" indent="0">
              <a:buNone/>
              <a:defRPr sz="1033"/>
            </a:lvl2pPr>
            <a:lvl3pPr marL="675010" indent="0">
              <a:buNone/>
              <a:defRPr sz="886"/>
            </a:lvl3pPr>
            <a:lvl4pPr marL="1012515" indent="0">
              <a:buNone/>
              <a:defRPr sz="738"/>
            </a:lvl4pPr>
            <a:lvl5pPr marL="1350020" indent="0">
              <a:buNone/>
              <a:defRPr sz="738"/>
            </a:lvl5pPr>
            <a:lvl6pPr marL="1687525" indent="0">
              <a:buNone/>
              <a:defRPr sz="738"/>
            </a:lvl6pPr>
            <a:lvl7pPr marL="2025030" indent="0">
              <a:buNone/>
              <a:defRPr sz="738"/>
            </a:lvl7pPr>
            <a:lvl8pPr marL="2362535" indent="0">
              <a:buNone/>
              <a:defRPr sz="738"/>
            </a:lvl8pPr>
            <a:lvl9pPr marL="2700040" indent="0">
              <a:buNone/>
              <a:defRPr sz="73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69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7568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06637"/>
            <a:ext cx="1940525" cy="488086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306637"/>
            <a:ext cx="5709082" cy="488086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17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06638"/>
            <a:ext cx="7762102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533187"/>
            <a:ext cx="7762102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5338158"/>
            <a:ext cx="202489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37AE3-F5A0-469D-8418-EABA58A84990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5338158"/>
            <a:ext cx="303734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5338158"/>
            <a:ext cx="202489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BC82-6A45-49C8-8DCB-9D8C5B8661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52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5010" rtl="0" eaLnBrk="1" latinLnBrk="0" hangingPunct="1">
        <a:lnSpc>
          <a:spcPct val="90000"/>
        </a:lnSpc>
        <a:spcBef>
          <a:spcPct val="0"/>
        </a:spcBef>
        <a:buNone/>
        <a:defRPr sz="32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753" indent="-168753" algn="l" defTabSz="67501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7" kern="1200">
          <a:solidFill>
            <a:schemeClr val="tx1"/>
          </a:solidFill>
          <a:latin typeface="+mn-lt"/>
          <a:ea typeface="+mn-ea"/>
          <a:cs typeface="+mn-cs"/>
        </a:defRPr>
      </a:lvl1pPr>
      <a:lvl2pPr marL="50625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4376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6" kern="1200">
          <a:solidFill>
            <a:schemeClr val="tx1"/>
          </a:solidFill>
          <a:latin typeface="+mn-lt"/>
          <a:ea typeface="+mn-ea"/>
          <a:cs typeface="+mn-cs"/>
        </a:defRPr>
      </a:lvl3pPr>
      <a:lvl4pPr marL="118126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51877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85627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378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288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8793" indent="-168753" algn="l" defTabSz="67501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0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01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51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02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52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03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535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040" algn="l" defTabSz="675010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DDCB05D-3D20-99C0-E70D-D7C204BCC794}"/>
              </a:ext>
            </a:extLst>
          </p:cNvPr>
          <p:cNvGrpSpPr/>
          <p:nvPr/>
        </p:nvGrpSpPr>
        <p:grpSpPr>
          <a:xfrm>
            <a:off x="101480" y="197290"/>
            <a:ext cx="8752644" cy="5394130"/>
            <a:chOff x="1713449" y="863566"/>
            <a:chExt cx="8752644" cy="5394130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A02666C7-3FE2-4D0A-91A9-F18B81B483B6}"/>
                </a:ext>
              </a:extLst>
            </p:cNvPr>
            <p:cNvGrpSpPr/>
            <p:nvPr/>
          </p:nvGrpSpPr>
          <p:grpSpPr>
            <a:xfrm>
              <a:off x="4348165" y="863566"/>
              <a:ext cx="3858679" cy="1098747"/>
              <a:chOff x="2822959" y="1369924"/>
              <a:chExt cx="3858679" cy="1098747"/>
            </a:xfrm>
          </p:grpSpPr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84C3AD9-1E7A-4654-8DFC-41C7FD64BCD7}"/>
                  </a:ext>
                </a:extLst>
              </p:cNvPr>
              <p:cNvSpPr txBox="1"/>
              <p:nvPr/>
            </p:nvSpPr>
            <p:spPr>
              <a:xfrm>
                <a:off x="2858753" y="1536991"/>
                <a:ext cx="382288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Abdeckung </a:t>
                </a:r>
              </a:p>
              <a:p>
                <a:pPr algn="ctr"/>
                <a:r>
                  <a: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von Lebenshaltungskosten</a:t>
                </a:r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4BA3F8A7-9496-47CB-87BB-F8AF0BB5E103}"/>
                  </a:ext>
                </a:extLst>
              </p:cNvPr>
              <p:cNvSpPr/>
              <p:nvPr/>
            </p:nvSpPr>
            <p:spPr>
              <a:xfrm>
                <a:off x="2822959" y="1369924"/>
                <a:ext cx="3822884" cy="1098747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200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p:grp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DFD546EE-FB35-41A6-AEBE-9CBC1043FC42}"/>
                </a:ext>
              </a:extLst>
            </p:cNvPr>
            <p:cNvGrpSpPr/>
            <p:nvPr/>
          </p:nvGrpSpPr>
          <p:grpSpPr>
            <a:xfrm>
              <a:off x="7872493" y="1340924"/>
              <a:ext cx="2581835" cy="1739145"/>
              <a:chOff x="6226262" y="1847282"/>
              <a:chExt cx="2581835" cy="1739149"/>
            </a:xfrm>
          </p:grpSpPr>
          <p:sp>
            <p:nvSpPr>
              <p:cNvPr id="22" name="Pfeil: nach rechts 21">
                <a:extLst>
                  <a:ext uri="{FF2B5EF4-FFF2-40B4-BE49-F238E27FC236}">
                    <a16:creationId xmlns:a16="http://schemas.microsoft.com/office/drawing/2014/main" id="{4FDB8CF1-4313-4968-9D7F-53DF5DC1BD16}"/>
                  </a:ext>
                </a:extLst>
              </p:cNvPr>
              <p:cNvSpPr/>
              <p:nvPr/>
            </p:nvSpPr>
            <p:spPr>
              <a:xfrm rot="2467530">
                <a:off x="6758208" y="1847282"/>
                <a:ext cx="572303" cy="403040"/>
              </a:xfrm>
              <a:prstGeom prst="rightArrow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0FA0B2B1-3610-4713-AAC3-6ED1A36816EA}"/>
                  </a:ext>
                </a:extLst>
              </p:cNvPr>
              <p:cNvGrpSpPr/>
              <p:nvPr/>
            </p:nvGrpSpPr>
            <p:grpSpPr>
              <a:xfrm>
                <a:off x="6226262" y="2424952"/>
                <a:ext cx="2581835" cy="1161479"/>
                <a:chOff x="6226262" y="2424952"/>
                <a:chExt cx="2581835" cy="1161479"/>
              </a:xfrm>
            </p:grpSpPr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980FF2F9-F326-4BD5-B95A-430DE2D77757}"/>
                    </a:ext>
                  </a:extLst>
                </p:cNvPr>
                <p:cNvSpPr txBox="1"/>
                <p:nvPr/>
              </p:nvSpPr>
              <p:spPr>
                <a:xfrm>
                  <a:off x="6226262" y="2539442"/>
                  <a:ext cx="2581835" cy="1015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Suche nach</a:t>
                  </a:r>
                </a:p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(</a:t>
                  </a:r>
                  <a:r>
                    <a:rPr lang="de-DE" sz="2000" dirty="0" err="1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un</a:t>
                  </a:r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)befristeten</a:t>
                  </a:r>
                </a:p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Stellen</a:t>
                  </a:r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C949734E-16CD-494D-BD90-4985EBC8F219}"/>
                    </a:ext>
                  </a:extLst>
                </p:cNvPr>
                <p:cNvSpPr/>
                <p:nvPr/>
              </p:nvSpPr>
              <p:spPr>
                <a:xfrm>
                  <a:off x="6414386" y="2424952"/>
                  <a:ext cx="2160208" cy="116147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200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p:grp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0F589A32-9E85-49C0-BF21-B6CE031D7757}"/>
                </a:ext>
              </a:extLst>
            </p:cNvPr>
            <p:cNvGrpSpPr/>
            <p:nvPr/>
          </p:nvGrpSpPr>
          <p:grpSpPr>
            <a:xfrm>
              <a:off x="7782567" y="3174779"/>
              <a:ext cx="2683526" cy="2048262"/>
              <a:chOff x="6136338" y="3681141"/>
              <a:chExt cx="2683526" cy="2048263"/>
            </a:xfrm>
          </p:grpSpPr>
          <p:sp>
            <p:nvSpPr>
              <p:cNvPr id="23" name="Pfeil: nach rechts 22">
                <a:extLst>
                  <a:ext uri="{FF2B5EF4-FFF2-40B4-BE49-F238E27FC236}">
                    <a16:creationId xmlns:a16="http://schemas.microsoft.com/office/drawing/2014/main" id="{8200FC5A-50C1-4DC1-9593-A76390B1EE00}"/>
                  </a:ext>
                </a:extLst>
              </p:cNvPr>
              <p:cNvSpPr/>
              <p:nvPr/>
            </p:nvSpPr>
            <p:spPr>
              <a:xfrm rot="5400000">
                <a:off x="7208338" y="3765773"/>
                <a:ext cx="572303" cy="403040"/>
              </a:xfrm>
              <a:prstGeom prst="rightArrow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87F9EF06-32EB-427E-A796-C9D22172FD1E}"/>
                  </a:ext>
                </a:extLst>
              </p:cNvPr>
              <p:cNvGrpSpPr/>
              <p:nvPr/>
            </p:nvGrpSpPr>
            <p:grpSpPr>
              <a:xfrm>
                <a:off x="6136338" y="4324700"/>
                <a:ext cx="2683526" cy="1404704"/>
                <a:chOff x="6136338" y="4324700"/>
                <a:chExt cx="2683526" cy="1404704"/>
              </a:xfrm>
            </p:grpSpPr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6920F75F-C723-4FD6-817F-C68DB87C4C7D}"/>
                    </a:ext>
                  </a:extLst>
                </p:cNvPr>
                <p:cNvSpPr txBox="1"/>
                <p:nvPr/>
              </p:nvSpPr>
              <p:spPr>
                <a:xfrm>
                  <a:off x="6216579" y="4549872"/>
                  <a:ext cx="2581835" cy="1015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Publikationsdruck</a:t>
                  </a:r>
                </a:p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Hohes Arbeitsvolumen</a:t>
                  </a:r>
                </a:p>
              </p:txBody>
            </p:sp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646BE8CD-A5DF-48A2-8C1E-3002F880C761}"/>
                    </a:ext>
                  </a:extLst>
                </p:cNvPr>
                <p:cNvSpPr/>
                <p:nvPr/>
              </p:nvSpPr>
              <p:spPr>
                <a:xfrm>
                  <a:off x="6136338" y="4324700"/>
                  <a:ext cx="2683526" cy="140470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200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p:grp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BDE7924A-F382-4722-9837-1A3ACBD2D646}"/>
                </a:ext>
              </a:extLst>
            </p:cNvPr>
            <p:cNvGrpSpPr/>
            <p:nvPr/>
          </p:nvGrpSpPr>
          <p:grpSpPr>
            <a:xfrm>
              <a:off x="4902028" y="4940657"/>
              <a:ext cx="3414693" cy="1317039"/>
              <a:chOff x="3255797" y="5447017"/>
              <a:chExt cx="3414693" cy="1317039"/>
            </a:xfrm>
          </p:grpSpPr>
          <p:sp>
            <p:nvSpPr>
              <p:cNvPr id="24" name="Pfeil: nach rechts 23">
                <a:extLst>
                  <a:ext uri="{FF2B5EF4-FFF2-40B4-BE49-F238E27FC236}">
                    <a16:creationId xmlns:a16="http://schemas.microsoft.com/office/drawing/2014/main" id="{1261BC49-A889-438A-9D00-8E8B89CAF57E}"/>
                  </a:ext>
                </a:extLst>
              </p:cNvPr>
              <p:cNvSpPr/>
              <p:nvPr/>
            </p:nvSpPr>
            <p:spPr>
              <a:xfrm rot="8887568">
                <a:off x="6098187" y="5800739"/>
                <a:ext cx="572303" cy="403040"/>
              </a:xfrm>
              <a:prstGeom prst="rightArrow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539670D9-B4AF-4F01-8067-154596B78C9F}"/>
                  </a:ext>
                </a:extLst>
              </p:cNvPr>
              <p:cNvGrpSpPr/>
              <p:nvPr/>
            </p:nvGrpSpPr>
            <p:grpSpPr>
              <a:xfrm>
                <a:off x="3255797" y="5447017"/>
                <a:ext cx="2683526" cy="1317039"/>
                <a:chOff x="3300552" y="5447017"/>
                <a:chExt cx="2683526" cy="1317039"/>
              </a:xfrm>
            </p:grpSpPr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44341EDA-F195-429A-9DDA-79C8FD296157}"/>
                    </a:ext>
                  </a:extLst>
                </p:cNvPr>
                <p:cNvSpPr txBox="1"/>
                <p:nvPr/>
              </p:nvSpPr>
              <p:spPr>
                <a:xfrm>
                  <a:off x="3351397" y="5792912"/>
                  <a:ext cx="258183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Schöne spannende</a:t>
                  </a:r>
                </a:p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Resultate</a:t>
                  </a:r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61F2D118-E871-4342-8B22-3B08DD1320FA}"/>
                    </a:ext>
                  </a:extLst>
                </p:cNvPr>
                <p:cNvSpPr/>
                <p:nvPr/>
              </p:nvSpPr>
              <p:spPr>
                <a:xfrm>
                  <a:off x="3300552" y="5447017"/>
                  <a:ext cx="2683526" cy="131703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200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p:grpSp>
        </p:grpSp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0D86ADC5-706B-4EF1-A5E2-A4C72673C946}"/>
                </a:ext>
              </a:extLst>
            </p:cNvPr>
            <p:cNvGrpSpPr/>
            <p:nvPr/>
          </p:nvGrpSpPr>
          <p:grpSpPr>
            <a:xfrm>
              <a:off x="1785751" y="3806353"/>
              <a:ext cx="3055837" cy="1850791"/>
              <a:chOff x="139522" y="4312714"/>
              <a:chExt cx="3055837" cy="1850791"/>
            </a:xfrm>
          </p:grpSpPr>
          <p:sp>
            <p:nvSpPr>
              <p:cNvPr id="25" name="Pfeil: nach rechts 24">
                <a:extLst>
                  <a:ext uri="{FF2B5EF4-FFF2-40B4-BE49-F238E27FC236}">
                    <a16:creationId xmlns:a16="http://schemas.microsoft.com/office/drawing/2014/main" id="{919B86FD-8657-45E8-AA39-D446957AABC8}"/>
                  </a:ext>
                </a:extLst>
              </p:cNvPr>
              <p:cNvSpPr/>
              <p:nvPr/>
            </p:nvSpPr>
            <p:spPr>
              <a:xfrm rot="12986466">
                <a:off x="2196520" y="5760465"/>
                <a:ext cx="572303" cy="403040"/>
              </a:xfrm>
              <a:prstGeom prst="rightArrow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grpSp>
            <p:nvGrpSpPr>
              <p:cNvPr id="36" name="Gruppieren 35">
                <a:extLst>
                  <a:ext uri="{FF2B5EF4-FFF2-40B4-BE49-F238E27FC236}">
                    <a16:creationId xmlns:a16="http://schemas.microsoft.com/office/drawing/2014/main" id="{0549EDC1-75A5-4444-8F0C-5BD818925A7A}"/>
                  </a:ext>
                </a:extLst>
              </p:cNvPr>
              <p:cNvGrpSpPr/>
              <p:nvPr/>
            </p:nvGrpSpPr>
            <p:grpSpPr>
              <a:xfrm>
                <a:off x="139522" y="4312714"/>
                <a:ext cx="3055837" cy="1317039"/>
                <a:chOff x="139522" y="4312714"/>
                <a:chExt cx="3055837" cy="1317039"/>
              </a:xfrm>
            </p:grpSpPr>
            <p:sp>
              <p:nvSpPr>
                <p:cNvPr id="10" name="Textfeld 9">
                  <a:extLst>
                    <a:ext uri="{FF2B5EF4-FFF2-40B4-BE49-F238E27FC236}">
                      <a16:creationId xmlns:a16="http://schemas.microsoft.com/office/drawing/2014/main" id="{50751BED-A440-4407-9943-5F0AEB6D175F}"/>
                    </a:ext>
                  </a:extLst>
                </p:cNvPr>
                <p:cNvSpPr txBox="1"/>
                <p:nvPr/>
              </p:nvSpPr>
              <p:spPr>
                <a:xfrm>
                  <a:off x="156774" y="4593002"/>
                  <a:ext cx="298804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High </a:t>
                  </a:r>
                  <a:r>
                    <a:rPr lang="de-DE" sz="2000" dirty="0" err="1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impact</a:t>
                  </a:r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 </a:t>
                  </a:r>
                  <a:r>
                    <a:rPr lang="de-DE" sz="2000" dirty="0" err="1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paper</a:t>
                  </a:r>
                  <a:endParaRPr lang="de-DE" sz="20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  <a:p>
                  <a:pPr algn="ctr"/>
                  <a:r>
                    <a:rPr lang="de-DE" sz="2000" dirty="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rPr>
                    <a:t>Mediale Aufmerksamkeit</a:t>
                  </a:r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1F5BB10F-9B86-464E-A926-17C89C709C58}"/>
                    </a:ext>
                  </a:extLst>
                </p:cNvPr>
                <p:cNvSpPr/>
                <p:nvPr/>
              </p:nvSpPr>
              <p:spPr>
                <a:xfrm>
                  <a:off x="139522" y="4312714"/>
                  <a:ext cx="3055837" cy="1317039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200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p:grpSp>
        </p:grpSp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D835A143-D074-427B-AD18-A3A74315CAF5}"/>
                </a:ext>
              </a:extLst>
            </p:cNvPr>
            <p:cNvGrpSpPr/>
            <p:nvPr/>
          </p:nvGrpSpPr>
          <p:grpSpPr>
            <a:xfrm>
              <a:off x="1713449" y="1257056"/>
              <a:ext cx="2765343" cy="2395316"/>
              <a:chOff x="67220" y="1763416"/>
              <a:chExt cx="2765343" cy="2395315"/>
            </a:xfrm>
          </p:grpSpPr>
          <p:sp>
            <p:nvSpPr>
              <p:cNvPr id="26" name="Pfeil: nach rechts 25">
                <a:extLst>
                  <a:ext uri="{FF2B5EF4-FFF2-40B4-BE49-F238E27FC236}">
                    <a16:creationId xmlns:a16="http://schemas.microsoft.com/office/drawing/2014/main" id="{211F2278-651A-445B-92E9-3AAD5568229F}"/>
                  </a:ext>
                </a:extLst>
              </p:cNvPr>
              <p:cNvSpPr/>
              <p:nvPr/>
            </p:nvSpPr>
            <p:spPr>
              <a:xfrm rot="16200000">
                <a:off x="1342974" y="3671060"/>
                <a:ext cx="572303" cy="403040"/>
              </a:xfrm>
              <a:prstGeom prst="rightArrow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76D73663-0219-44ED-995E-5EE26608507C}"/>
                  </a:ext>
                </a:extLst>
              </p:cNvPr>
              <p:cNvGrpSpPr/>
              <p:nvPr/>
            </p:nvGrpSpPr>
            <p:grpSpPr>
              <a:xfrm>
                <a:off x="67220" y="1763416"/>
                <a:ext cx="2765343" cy="1600204"/>
                <a:chOff x="67220" y="1763416"/>
                <a:chExt cx="2765343" cy="1600204"/>
              </a:xfrm>
            </p:grpSpPr>
            <p:sp>
              <p:nvSpPr>
                <p:cNvPr id="27" name="Pfeil: nach rechts 26">
                  <a:extLst>
                    <a:ext uri="{FF2B5EF4-FFF2-40B4-BE49-F238E27FC236}">
                      <a16:creationId xmlns:a16="http://schemas.microsoft.com/office/drawing/2014/main" id="{0DA06F2A-74A7-42C8-8946-87EA640DDDF5}"/>
                    </a:ext>
                  </a:extLst>
                </p:cNvPr>
                <p:cNvSpPr/>
                <p:nvPr/>
              </p:nvSpPr>
              <p:spPr>
                <a:xfrm rot="19559201">
                  <a:off x="1894415" y="1763416"/>
                  <a:ext cx="572303" cy="403040"/>
                </a:xfrm>
                <a:prstGeom prst="rightArrow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801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  <p:grpSp>
              <p:nvGrpSpPr>
                <p:cNvPr id="35" name="Gruppieren 34">
                  <a:extLst>
                    <a:ext uri="{FF2B5EF4-FFF2-40B4-BE49-F238E27FC236}">
                      <a16:creationId xmlns:a16="http://schemas.microsoft.com/office/drawing/2014/main" id="{F7C56061-585F-450A-AB2E-137C8C6351EF}"/>
                    </a:ext>
                  </a:extLst>
                </p:cNvPr>
                <p:cNvGrpSpPr/>
                <p:nvPr/>
              </p:nvGrpSpPr>
              <p:grpSpPr>
                <a:xfrm>
                  <a:off x="67220" y="2369683"/>
                  <a:ext cx="2765343" cy="993937"/>
                  <a:chOff x="63182" y="2369683"/>
                  <a:chExt cx="3093861" cy="993937"/>
                </a:xfrm>
              </p:grpSpPr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257BBFF6-484D-4E38-A14B-6AE0200C89FD}"/>
                      </a:ext>
                    </a:extLst>
                  </p:cNvPr>
                  <p:cNvSpPr txBox="1"/>
                  <p:nvPr/>
                </p:nvSpPr>
                <p:spPr>
                  <a:xfrm>
                    <a:off x="63182" y="2672153"/>
                    <a:ext cx="3043989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2000" dirty="0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Drittmitteleinwerbung</a:t>
                    </a:r>
                  </a:p>
                </p:txBody>
              </p:sp>
              <p:sp>
                <p:nvSpPr>
                  <p:cNvPr id="20" name="Ellipse 19">
                    <a:extLst>
                      <a:ext uri="{FF2B5EF4-FFF2-40B4-BE49-F238E27FC236}">
                        <a16:creationId xmlns:a16="http://schemas.microsoft.com/office/drawing/2014/main" id="{BA5DE2A7-3EC2-430A-AB91-CFE0D76C4198}"/>
                      </a:ext>
                    </a:extLst>
                  </p:cNvPr>
                  <p:cNvSpPr/>
                  <p:nvPr/>
                </p:nvSpPr>
                <p:spPr>
                  <a:xfrm>
                    <a:off x="101206" y="2369683"/>
                    <a:ext cx="3055837" cy="993937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200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</p:txBody>
              </p:sp>
            </p:grpSp>
          </p:grp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0F858B54-8EFB-4858-82FC-A0B1F7905191}"/>
                </a:ext>
              </a:extLst>
            </p:cNvPr>
            <p:cNvGrpSpPr/>
            <p:nvPr/>
          </p:nvGrpSpPr>
          <p:grpSpPr>
            <a:xfrm>
              <a:off x="4303238" y="2128353"/>
              <a:ext cx="3627550" cy="2206662"/>
              <a:chOff x="2657012" y="2634715"/>
              <a:chExt cx="3627550" cy="2206662"/>
            </a:xfrm>
          </p:grpSpPr>
          <p:grpSp>
            <p:nvGrpSpPr>
              <p:cNvPr id="43" name="Gruppieren 42">
                <a:extLst>
                  <a:ext uri="{FF2B5EF4-FFF2-40B4-BE49-F238E27FC236}">
                    <a16:creationId xmlns:a16="http://schemas.microsoft.com/office/drawing/2014/main" id="{21822EEF-9F52-4913-80BF-A948492CDA86}"/>
                  </a:ext>
                </a:extLst>
              </p:cNvPr>
              <p:cNvGrpSpPr/>
              <p:nvPr/>
            </p:nvGrpSpPr>
            <p:grpSpPr>
              <a:xfrm>
                <a:off x="2951799" y="2634715"/>
                <a:ext cx="3332763" cy="2206662"/>
                <a:chOff x="2951799" y="2634715"/>
                <a:chExt cx="3332763" cy="2206662"/>
              </a:xfrm>
            </p:grpSpPr>
            <p:grpSp>
              <p:nvGrpSpPr>
                <p:cNvPr id="34" name="Gruppieren 33">
                  <a:extLst>
                    <a:ext uri="{FF2B5EF4-FFF2-40B4-BE49-F238E27FC236}">
                      <a16:creationId xmlns:a16="http://schemas.microsoft.com/office/drawing/2014/main" id="{0135D9B1-42D0-435C-AEB4-42C949DE84A6}"/>
                    </a:ext>
                  </a:extLst>
                </p:cNvPr>
                <p:cNvGrpSpPr/>
                <p:nvPr/>
              </p:nvGrpSpPr>
              <p:grpSpPr>
                <a:xfrm>
                  <a:off x="2951799" y="3311715"/>
                  <a:ext cx="3332763" cy="1529662"/>
                  <a:chOff x="3078958" y="3311715"/>
                  <a:chExt cx="3332763" cy="1529662"/>
                </a:xfrm>
              </p:grpSpPr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CB109A2E-3F51-45E8-883B-2695DB689167}"/>
                      </a:ext>
                    </a:extLst>
                  </p:cNvPr>
                  <p:cNvSpPr txBox="1"/>
                  <p:nvPr/>
                </p:nvSpPr>
                <p:spPr>
                  <a:xfrm>
                    <a:off x="3289231" y="3426231"/>
                    <a:ext cx="2988046" cy="13234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2000" dirty="0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Amateure</a:t>
                    </a:r>
                  </a:p>
                  <a:p>
                    <a:pPr algn="ctr"/>
                    <a:r>
                      <a:rPr lang="de-DE" sz="2000" dirty="0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(</a:t>
                    </a:r>
                    <a:r>
                      <a:rPr lang="de-DE" sz="2000" dirty="0" err="1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Doktorand:innen</a:t>
                    </a:r>
                    <a:r>
                      <a:rPr lang="de-DE" sz="2000" dirty="0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)</a:t>
                    </a:r>
                  </a:p>
                  <a:p>
                    <a:pPr algn="ctr"/>
                    <a:r>
                      <a:rPr lang="de-DE" sz="2000" dirty="0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produzieren den Großteil</a:t>
                    </a:r>
                  </a:p>
                  <a:p>
                    <a:pPr algn="ctr"/>
                    <a:r>
                      <a:rPr lang="de-DE" sz="2000" dirty="0">
                        <a:latin typeface="CMU Bright" panose="02000603000000000000" pitchFamily="2" charset="0"/>
                        <a:ea typeface="CMU Bright" panose="02000603000000000000" pitchFamily="2" charset="0"/>
                        <a:cs typeface="CMU Bright" panose="02000603000000000000" pitchFamily="2" charset="0"/>
                      </a:rPr>
                      <a:t>an Forschung</a:t>
                    </a:r>
                  </a:p>
                </p:txBody>
              </p:sp>
              <p:sp>
                <p:nvSpPr>
                  <p:cNvPr id="21" name="Ellipse 20">
                    <a:extLst>
                      <a:ext uri="{FF2B5EF4-FFF2-40B4-BE49-F238E27FC236}">
                        <a16:creationId xmlns:a16="http://schemas.microsoft.com/office/drawing/2014/main" id="{68256D04-A1BB-4B3F-9A28-0E2528E35CBF}"/>
                      </a:ext>
                    </a:extLst>
                  </p:cNvPr>
                  <p:cNvSpPr/>
                  <p:nvPr/>
                </p:nvSpPr>
                <p:spPr>
                  <a:xfrm>
                    <a:off x="3078958" y="3311715"/>
                    <a:ext cx="3332763" cy="1529662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2000">
                      <a:latin typeface="CMU Bright" panose="02000603000000000000" pitchFamily="2" charset="0"/>
                      <a:ea typeface="CMU Bright" panose="02000603000000000000" pitchFamily="2" charset="0"/>
                      <a:cs typeface="CMU Bright" panose="02000603000000000000" pitchFamily="2" charset="0"/>
                    </a:endParaRPr>
                  </a:p>
                </p:txBody>
              </p:sp>
            </p:grpSp>
            <p:sp>
              <p:nvSpPr>
                <p:cNvPr id="29" name="Pfeil: nach rechts 28">
                  <a:extLst>
                    <a:ext uri="{FF2B5EF4-FFF2-40B4-BE49-F238E27FC236}">
                      <a16:creationId xmlns:a16="http://schemas.microsoft.com/office/drawing/2014/main" id="{0EBACEBD-D6EF-4E18-903F-C1A255A81B8C}"/>
                    </a:ext>
                  </a:extLst>
                </p:cNvPr>
                <p:cNvSpPr/>
                <p:nvPr/>
              </p:nvSpPr>
              <p:spPr>
                <a:xfrm rot="16200000">
                  <a:off x="4332029" y="2719347"/>
                  <a:ext cx="572303" cy="403040"/>
                </a:xfrm>
                <a:prstGeom prst="rightArrow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sz="1801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endParaRPr>
                </a:p>
              </p:txBody>
            </p:sp>
          </p:grpSp>
          <p:sp>
            <p:nvSpPr>
              <p:cNvPr id="51" name="Pfeil: nach rechts 50">
                <a:extLst>
                  <a:ext uri="{FF2B5EF4-FFF2-40B4-BE49-F238E27FC236}">
                    <a16:creationId xmlns:a16="http://schemas.microsoft.com/office/drawing/2014/main" id="{FED3609F-9C92-4285-B2F4-ADBCD74C9C19}"/>
                  </a:ext>
                </a:extLst>
              </p:cNvPr>
              <p:cNvSpPr/>
              <p:nvPr/>
            </p:nvSpPr>
            <p:spPr>
              <a:xfrm rot="2286875">
                <a:off x="2657012" y="3220705"/>
                <a:ext cx="572303" cy="403040"/>
              </a:xfrm>
              <a:prstGeom prst="rightArrow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801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112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33</Words>
  <Application>Microsoft Office PowerPoint</Application>
  <PresentationFormat>Benutzerdefiniert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2</cp:revision>
  <dcterms:created xsi:type="dcterms:W3CDTF">2023-05-08T09:06:04Z</dcterms:created>
  <dcterms:modified xsi:type="dcterms:W3CDTF">2023-05-08T09:11:01Z</dcterms:modified>
</cp:coreProperties>
</file>